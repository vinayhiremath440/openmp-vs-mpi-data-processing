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82B49"/>
          </a:solidFill>
          <a:ln>
            <a:solidFill>
              <a:srgbClr val="182B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37160" cy="2926080"/>
          </a:xfrm>
          <a:prstGeom prst="rect">
            <a:avLst/>
          </a:prstGeom>
          <a:solidFill>
            <a:srgbClr val="107C82"/>
          </a:solidFill>
          <a:ln>
            <a:solidFill>
              <a:srgbClr val="107C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005840"/>
            <a:ext cx="73152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107C82"/>
                </a:solidFill>
              </a:defRPr>
            </a:pPr>
            <a:r>
              <a:t>PARALLEL COMPUTING LAB EVALUATION</a:t>
            </a:r>
          </a:p>
          <a:p>
            <a:pPr>
              <a:spcAft>
                <a:spcPts val="1000"/>
              </a:spcAft>
              <a:defRPr sz="2800" b="1">
                <a:solidFill>
                  <a:srgbClr val="FFFFFF"/>
                </a:solidFill>
              </a:defRPr>
            </a:pPr>
            <a:r>
              <a:t>OpenMP vs MPI for Data Processing</a:t>
            </a:r>
          </a:p>
          <a:p>
            <a:pPr>
              <a:spcAft>
                <a:spcPts val="2500"/>
              </a:spcAft>
              <a:defRPr sz="1500">
                <a:solidFill>
                  <a:srgbClr val="C8D6E5"/>
                </a:solidFill>
              </a:defRPr>
            </a:pPr>
            <a:r>
              <a:t>A Comparative Performance, Speedup, and Efficiency Study</a:t>
            </a:r>
          </a:p>
          <a:p>
            <a:pPr>
              <a:defRPr sz="1100">
                <a:solidFill>
                  <a:srgbClr val="A4B0BE"/>
                </a:solidFill>
              </a:defRPr>
            </a:pPr>
            <a:r>
              <a:t>Author: Vinay V Hiremath (USN: 01FE24BCI069)</a:t>
            </a:r>
            <a:br/>
            <a:r>
              <a:t>Department: Computer Science &amp; Engineering [AI]</a:t>
            </a:r>
            <a:br/>
            <a:r>
              <a:t>Topic: OpenMP vs MPI for Data Processing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82B49"/>
          </a:solidFill>
          <a:ln>
            <a:solidFill>
              <a:srgbClr val="182B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7C82"/>
                </a:solidFill>
              </a:defRPr>
            </a:pPr>
            <a:r>
              <a:t>PARALLEL COMPUTING MINI-PROJECT | TOPIC #9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7680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1. Project Motivation &amp; Research Objectives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7680960" cy="3566160"/>
          </a:xfrm>
          <a:prstGeom prst="roundRect">
            <a:avLst/>
          </a:prstGeom>
          <a:solidFill>
            <a:srgbClr val="FFFFFF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280160"/>
            <a:ext cx="73152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Core Objective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Implement identical numerical dataset operations in OpenMP and MPI to quantitatively evaluate latency, speedup, and scalability.</a:t>
            </a:r>
          </a:p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Multi-Paradigm Study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Benchmarking shared-memory thread parallelism (OpenMP) against distributed-memory message passing (MPI) with zero computational drift.</a:t>
            </a:r>
          </a:p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Multi-Scale Experimental Grid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Systematic evaluation across dataset sizes (5M to 50M doubles) and worker counts (1 to 12 threads/processes).</a:t>
            </a:r>
          </a:p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Architectural Analysis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Evaluating Amdahl's Law, parallel efficiency decay, memory bus contention, and collective communication overhead.</a:t>
            </a:r>
          </a:p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Performance Metrics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Measuring wall-clock time (ms), speedup factor S, parallel efficiency E (%), and processing throughput (Million items/sec).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82B49"/>
          </a:solidFill>
          <a:ln>
            <a:solidFill>
              <a:srgbClr val="182B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7C82"/>
                </a:solidFill>
              </a:defRPr>
            </a:pPr>
            <a:r>
              <a:t>PARALLEL COMPUTING MINI-PROJECT | TOPIC #9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7680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2. Problem Definition &amp; Mathematical Operation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7680960" cy="3566160"/>
          </a:xfrm>
          <a:prstGeom prst="roundRect">
            <a:avLst/>
          </a:prstGeom>
          <a:solidFill>
            <a:srgbClr val="FFFFFF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280160"/>
            <a:ext cx="73152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Input Dataset Characteristics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Array of N double-precision floating-point numbers (N in {5M, 10M, 25M, 50M}), simulating big-data telemetry/sensor records.</a:t>
            </a:r>
          </a:p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Phase 1: Aggregate Reductions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Compute global Sum, Mean (mu = Sum/N), Variance (sigma^2 = (Sum_sq/N) - mu^2), Std Deviation, Minimum, and Maximum values.</a:t>
            </a:r>
          </a:p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Phase 2: Dependent Conditional Filtering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Filter and count elements exceeding the dataset mean (val &gt; mu). Highlights multi-pass synchronization overhead.</a:t>
            </a:r>
          </a:p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Algorithmic Complexity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Sequential complexity is O(N) work and O(N) space. Parallel span (critical path) is O(N/P + log P) where P is worker count.</a:t>
            </a:r>
          </a:p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Reproducibility Assurance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Deterministic pseudo-random linear congruential generator (LCG) ensures 100% bitwise identical results across Sequential, OpenMP, and MPI.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82B49"/>
          </a:solidFill>
          <a:ln>
            <a:solidFill>
              <a:srgbClr val="182B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7C82"/>
                </a:solidFill>
              </a:defRPr>
            </a:pPr>
            <a:r>
              <a:t>PARALLEL COMPUTING MINI-PROJECT | TOPIC #9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7680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3. Sequential Baseline Implementation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7680960" cy="3566160"/>
          </a:xfrm>
          <a:prstGeom prst="roundRect">
            <a:avLst/>
          </a:prstGeom>
          <a:solidFill>
            <a:srgbClr val="FFFFFF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280160"/>
            <a:ext cx="73152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Execution Paradigm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Single-threaded von Neumann execution compiled with GCC -O3 optimization level.</a:t>
            </a:r>
          </a:p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Pass 1 Accumulation Loop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Linear traversal accumulating sum, sum_sq, min_val, and max_val into CPU registers.</a:t>
            </a:r>
          </a:p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Statistical Derivation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Variance and standard deviation derived from first and second moments in O(1) time after Pass 1.</a:t>
            </a:r>
          </a:p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Pass 2 Filtering Loop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Branch evaluation (data[i] &gt; mean) counting elements exceeding average in linear time.</a:t>
            </a:r>
          </a:p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High-Precision Windows Timing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QueryPerformanceCounter (QPC) provides sub-microsecond resolution timing, free from OS tick quantization artifacts.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82B49"/>
          </a:solidFill>
          <a:ln>
            <a:solidFill>
              <a:srgbClr val="182B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7C82"/>
                </a:solidFill>
              </a:defRPr>
            </a:pPr>
            <a:r>
              <a:t>PARALLEL COMPUTING MINI-PROJECT | TOPIC #9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7680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4. OpenMP Shared-Memory Parallel Design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7680960" cy="3566160"/>
          </a:xfrm>
          <a:prstGeom prst="roundRect">
            <a:avLst/>
          </a:prstGeom>
          <a:solidFill>
            <a:srgbClr val="FFFFFF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280160"/>
            <a:ext cx="73152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Memory Model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Uniform shared-memory SMP model. All threads share the same virtual address space with zero data duplication.</a:t>
            </a:r>
          </a:p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Directive-Driven Reductions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#pragma omp parallel for reduction(+:sum, sum_sq) reduction(min:min_val) reduction(max:max_val) schedule(static).</a:t>
            </a:r>
          </a:p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Thread Synchronization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Implicit barrier at loop completion ensures all private accumulators are merged safely into master variables without race conditions.</a:t>
            </a:r>
          </a:p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Pass 2 Shared Mean Access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Calculated mean is immediately readable by all threads from shared RAM without any explicit inter-thread communication.</a:t>
            </a:r>
          </a:p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Parallel Filter Loop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#pragma omp parallel for reduction(+:count_above_mean) splits iteration space statically across available threads.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82B49"/>
          </a:solidFill>
          <a:ln>
            <a:solidFill>
              <a:srgbClr val="182B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7C82"/>
                </a:solidFill>
              </a:defRPr>
            </a:pPr>
            <a:r>
              <a:t>PARALLEL COMPUTING MINI-PROJECT | TOPIC #9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7680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5. MPI Distributed-Memory Parallel Design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7680960" cy="3566160"/>
          </a:xfrm>
          <a:prstGeom prst="roundRect">
            <a:avLst/>
          </a:prstGeom>
          <a:solidFill>
            <a:srgbClr val="FFFFFF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280160"/>
            <a:ext cx="73152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Memory Model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Shared-nothing distributed memory architecture. Each process has an isolated address space; explicit message passing is required.</a:t>
            </a:r>
          </a:p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1D Domain Decomposition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Dataset divided into contiguous chunks: local_count = N / P (+1 for rank &lt; N % P). Local memory allocation ensures zero global RAM bloat.</a:t>
            </a:r>
          </a:p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Pass 1 Collective Reductions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MPI_Reduce() performs tree-based aggregation (MPI_SUM, MPI_MIN, MPI_MAX) from all ranks into Rank 0 in O(log P) steps.</a:t>
            </a:r>
          </a:p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Global Mean Broadcast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Rank 0 computes global_mean = global_sum / N and broadcasts it to all ranks via MPI_Bcast() for Phase 2.</a:t>
            </a:r>
          </a:p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Pass 2 Distributed Filter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Each rank filters its local slice and executes MPI_Reduce() with MPI_LONG_LONG to compute global count above mean.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82B49"/>
          </a:solidFill>
          <a:ln>
            <a:solidFill>
              <a:srgbClr val="182B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7C82"/>
                </a:solidFill>
              </a:defRPr>
            </a:pPr>
            <a:r>
              <a:t>PARALLEL COMPUTING MINI-PROJECT | TOPIC #9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7680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6. Experimental Hardware &amp; Benchmarking Setup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7680960" cy="3566160"/>
          </a:xfrm>
          <a:prstGeom prst="roundRect">
            <a:avLst/>
          </a:prstGeom>
          <a:solidFill>
            <a:srgbClr val="FFFFFF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280160"/>
            <a:ext cx="73152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Processor (CPU)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13th Gen Intel Core i5-13420H (8 Physical Cores, 12 Logical Processors, Base 2.1 GHz, Turbo 4.6 GHz).</a:t>
            </a:r>
          </a:p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Memory &amp; Architecture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16 GB RAM, x86_64 architecture, Windows 11 64-bit OS.</a:t>
            </a:r>
          </a:p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Compilers &amp; Toolchain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MinGW-w64 GCC 8.1.0 with -O3 optimization level, Microsoft MPI (MS-MPI) v10.1.</a:t>
            </a:r>
          </a:p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Dataset Scale Grid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5,000,000 | 10,000,000 | 25,000,000 | 50,000,000 double-precision elements (40 MB to 400 MB).</a:t>
            </a:r>
          </a:p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Worker Counts Tested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P in {1, 2, 4, 8, 12} threads for OpenMP and {1, 2, 4, 8, 12} processes for MPI.</a:t>
            </a:r>
          </a:p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Measurement Rigor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3 repetitions per configuration, computing average runtime, standard deviation, speedup, efficiency, and throughput.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82B49"/>
          </a:solidFill>
          <a:ln>
            <a:solidFill>
              <a:srgbClr val="182B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7C82"/>
                </a:solidFill>
              </a:defRPr>
            </a:pPr>
            <a:r>
              <a:t>PARALLEL COMPUTING MINI-PROJECT | TOPIC #9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7680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7. Execution Time Comparison vs Dataset Size</a:t>
            </a:r>
          </a:p>
        </p:txBody>
      </p:sp>
      <p:pic>
        <p:nvPicPr>
          <p:cNvPr id="5" name="Picture 4" descr="execution_time_vs_datasi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4572000" cy="34747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0" y="1188720"/>
            <a:ext cx="2926080" cy="3474720"/>
          </a:xfrm>
          <a:prstGeom prst="roundRect">
            <a:avLst/>
          </a:prstGeom>
          <a:solidFill>
            <a:srgbClr val="FFFFFF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23560" y="1325880"/>
            <a:ext cx="26517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182B49"/>
                </a:solidFill>
              </a:defRPr>
            </a:pPr>
            <a:r>
              <a:t>Sub-Linear Runtime</a:t>
            </a:r>
          </a:p>
          <a:p>
            <a:pPr>
              <a:spcAft>
                <a:spcPts val="800"/>
              </a:spcAft>
              <a:defRPr sz="950">
                <a:solidFill>
                  <a:srgbClr val="2D3436"/>
                </a:solidFill>
              </a:defRPr>
            </a:pPr>
            <a:r>
              <a:t>Execution time scales proportionally with dataset size from 5M to 50M elements across all implementations.</a:t>
            </a:r>
          </a:p>
          <a:p>
            <a:pPr>
              <a:spcAft>
                <a:spcPts val="200"/>
              </a:spcAft>
              <a:defRPr sz="1100" b="1">
                <a:solidFill>
                  <a:srgbClr val="182B49"/>
                </a:solidFill>
              </a:defRPr>
            </a:pPr>
            <a:r>
              <a:t>Significant Latency Drop</a:t>
            </a:r>
          </a:p>
          <a:p>
            <a:pPr>
              <a:spcAft>
                <a:spcPts val="800"/>
              </a:spcAft>
              <a:defRPr sz="950">
                <a:solidFill>
                  <a:srgbClr val="2D3436"/>
                </a:solidFill>
              </a:defRPr>
            </a:pPr>
            <a:r>
              <a:t>At 50M elements: Sequential requires 81.97 ms, while OpenMP reduces to 31.45 ms and MPI to 27.12 ms at 4 cores.</a:t>
            </a:r>
          </a:p>
          <a:p>
            <a:pPr>
              <a:spcAft>
                <a:spcPts val="200"/>
              </a:spcAft>
              <a:defRPr sz="1100" b="1">
                <a:solidFill>
                  <a:srgbClr val="182B49"/>
                </a:solidFill>
              </a:defRPr>
            </a:pPr>
            <a:r>
              <a:t>Shared vs Distributed</a:t>
            </a:r>
          </a:p>
          <a:p>
            <a:pPr>
              <a:spcAft>
                <a:spcPts val="800"/>
              </a:spcAft>
              <a:defRPr sz="950">
                <a:solidFill>
                  <a:srgbClr val="2D3436"/>
                </a:solidFill>
              </a:defRPr>
            </a:pPr>
            <a:r>
              <a:t>MPI exhibits slightly higher initial startup overhead at small sizes, but matches and outperforms OpenMP at large scales due to cache isolation.</a:t>
            </a:r>
          </a:p>
          <a:p>
            <a:pPr>
              <a:spcAft>
                <a:spcPts val="200"/>
              </a:spcAft>
              <a:defRPr sz="1100" b="1">
                <a:solidFill>
                  <a:srgbClr val="182B49"/>
                </a:solidFill>
              </a:defRPr>
            </a:pPr>
            <a:r>
              <a:t>Zero Computational Drift</a:t>
            </a:r>
          </a:p>
          <a:p>
            <a:pPr>
              <a:spcAft>
                <a:spcPts val="800"/>
              </a:spcAft>
              <a:defRPr sz="950">
                <a:solidFill>
                  <a:srgbClr val="2D3436"/>
                </a:solidFill>
              </a:defRPr>
            </a:pPr>
            <a:r>
              <a:t>Outputs match exactly: Sum = 249,997,015,134.12, Mean = 4,999.94, Count = 25,000,772.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82B49"/>
          </a:solidFill>
          <a:ln>
            <a:solidFill>
              <a:srgbClr val="182B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7C82"/>
                </a:solidFill>
              </a:defRPr>
            </a:pPr>
            <a:r>
              <a:t>PARALLEL COMPUTING MINI-PROJECT | TOPIC #9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7680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8. Speedup Analysis vs Ideal Linear Scaling</a:t>
            </a:r>
          </a:p>
        </p:txBody>
      </p:sp>
      <p:pic>
        <p:nvPicPr>
          <p:cNvPr id="5" name="Picture 4" descr="speedup_vs_c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4572000" cy="34747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0" y="1188720"/>
            <a:ext cx="2926080" cy="3474720"/>
          </a:xfrm>
          <a:prstGeom prst="roundRect">
            <a:avLst/>
          </a:prstGeom>
          <a:solidFill>
            <a:srgbClr val="FFFFFF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23560" y="1325880"/>
            <a:ext cx="26517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182B49"/>
                </a:solidFill>
              </a:defRPr>
            </a:pPr>
            <a:r>
              <a:t>Near-Linear Scaling (1-4 Cores)</a:t>
            </a:r>
          </a:p>
          <a:p>
            <a:pPr>
              <a:spcAft>
                <a:spcPts val="800"/>
              </a:spcAft>
              <a:defRPr sz="950">
                <a:solidFill>
                  <a:srgbClr val="2D3436"/>
                </a:solidFill>
              </a:defRPr>
            </a:pPr>
            <a:r>
              <a:t>Both OpenMP and MPI achieve sharp speedup improvements up to 4 cores (OpenMP ~2.6x-2.9x, MPI ~2.9x-3.0x).</a:t>
            </a:r>
          </a:p>
          <a:p>
            <a:pPr>
              <a:spcAft>
                <a:spcPts val="200"/>
              </a:spcAft>
              <a:defRPr sz="1100" b="1">
                <a:solidFill>
                  <a:srgbClr val="182B49"/>
                </a:solidFill>
              </a:defRPr>
            </a:pPr>
            <a:r>
              <a:t>Peak Speedup at 8-12 Cores</a:t>
            </a:r>
          </a:p>
          <a:p>
            <a:pPr>
              <a:spcAft>
                <a:spcPts val="800"/>
              </a:spcAft>
              <a:defRPr sz="950">
                <a:solidFill>
                  <a:srgbClr val="2D3436"/>
                </a:solidFill>
              </a:defRPr>
            </a:pPr>
            <a:r>
              <a:t>MPI reaches 3.42x speedup at 12 processes (24.00 ms). OpenMP achieves 3.27x peak speedup at 8 threads (25.10 ms).</a:t>
            </a:r>
          </a:p>
          <a:p>
            <a:pPr>
              <a:spcAft>
                <a:spcPts val="200"/>
              </a:spcAft>
              <a:defRPr sz="1100" b="1">
                <a:solidFill>
                  <a:srgbClr val="182B49"/>
                </a:solidFill>
              </a:defRPr>
            </a:pPr>
            <a:r>
              <a:t>Amdahl's Law Impact</a:t>
            </a:r>
          </a:p>
          <a:p>
            <a:pPr>
              <a:spcAft>
                <a:spcPts val="800"/>
              </a:spcAft>
              <a:defRPr sz="950">
                <a:solidFill>
                  <a:srgbClr val="2D3436"/>
                </a:solidFill>
              </a:defRPr>
            </a:pPr>
            <a:r>
              <a:t>Serial fractions (variance computation, barrier synchronization, broadcast latency) set an upper theoretical limit on speedup.</a:t>
            </a:r>
          </a:p>
          <a:p>
            <a:pPr>
              <a:spcAft>
                <a:spcPts val="200"/>
              </a:spcAft>
              <a:defRPr sz="1100" b="1">
                <a:solidFill>
                  <a:srgbClr val="182B49"/>
                </a:solidFill>
              </a:defRPr>
            </a:pPr>
            <a:r>
              <a:t>Memory Bandwidth Saturation</a:t>
            </a:r>
          </a:p>
          <a:p>
            <a:pPr>
              <a:spcAft>
                <a:spcPts val="800"/>
              </a:spcAft>
              <a:defRPr sz="950">
                <a:solidFill>
                  <a:srgbClr val="2D3436"/>
                </a:solidFill>
              </a:defRPr>
            </a:pPr>
            <a:r>
              <a:t>Beyond 8 threads, multiple cores contend for shared L3 cache and memory bus bandwidth on CPU architecture.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82B49"/>
          </a:solidFill>
          <a:ln>
            <a:solidFill>
              <a:srgbClr val="182B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7C82"/>
                </a:solidFill>
              </a:defRPr>
            </a:pPr>
            <a:r>
              <a:t>PARALLEL COMPUTING MINI-PROJECT | TOPIC #9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7680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9. Parallel Efficiency &amp; Throughput Profiling</a:t>
            </a:r>
          </a:p>
        </p:txBody>
      </p:sp>
      <p:pic>
        <p:nvPicPr>
          <p:cNvPr id="5" name="Picture 4" descr="efficiency_vs_c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4572000" cy="34747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0" y="1188720"/>
            <a:ext cx="2926080" cy="3474720"/>
          </a:xfrm>
          <a:prstGeom prst="roundRect">
            <a:avLst/>
          </a:prstGeom>
          <a:solidFill>
            <a:srgbClr val="FFFFFF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23560" y="1325880"/>
            <a:ext cx="26517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182B49"/>
                </a:solidFill>
              </a:defRPr>
            </a:pPr>
            <a:r>
              <a:t>High Low-Core Efficiency</a:t>
            </a:r>
          </a:p>
          <a:p>
            <a:pPr>
              <a:spcAft>
                <a:spcPts val="800"/>
              </a:spcAft>
              <a:defRPr sz="950">
                <a:solidFill>
                  <a:srgbClr val="2D3436"/>
                </a:solidFill>
              </a:defRPr>
            </a:pPr>
            <a:r>
              <a:t>At 2 cores, MPI achieves 89.4% efficiency and OpenMP achieves 86.8% efficiency.</a:t>
            </a:r>
          </a:p>
          <a:p>
            <a:pPr>
              <a:spcAft>
                <a:spcPts val="200"/>
              </a:spcAft>
              <a:defRPr sz="1100" b="1">
                <a:solidFill>
                  <a:srgbClr val="182B49"/>
                </a:solidFill>
              </a:defRPr>
            </a:pPr>
            <a:r>
              <a:t>Diminishing Returns on SMT</a:t>
            </a:r>
          </a:p>
          <a:p>
            <a:pPr>
              <a:spcAft>
                <a:spcPts val="800"/>
              </a:spcAft>
              <a:defRPr sz="950">
                <a:solidFill>
                  <a:srgbClr val="2D3436"/>
                </a:solidFill>
              </a:defRPr>
            </a:pPr>
            <a:r>
              <a:t>Beyond 8 physical cores, logical hyperthreads (threads 9-12) share execution pipelines, reducing per-worker efficiency.</a:t>
            </a:r>
          </a:p>
          <a:p>
            <a:pPr>
              <a:spcAft>
                <a:spcPts val="200"/>
              </a:spcAft>
              <a:defRPr sz="1100" b="1">
                <a:solidFill>
                  <a:srgbClr val="182B49"/>
                </a:solidFill>
              </a:defRPr>
            </a:pPr>
            <a:r>
              <a:t>Massive Throughput Gains</a:t>
            </a:r>
          </a:p>
          <a:p>
            <a:pPr>
              <a:spcAft>
                <a:spcPts val="800"/>
              </a:spcAft>
              <a:defRPr sz="950">
                <a:solidFill>
                  <a:srgbClr val="2D3436"/>
                </a:solidFill>
              </a:defRPr>
            </a:pPr>
            <a:r>
              <a:t>Throughput scales from 610 Million elements/sec (Sequential) to over 2,083 Million elements/sec (MPI 12 Procs).</a:t>
            </a:r>
          </a:p>
          <a:p>
            <a:pPr>
              <a:spcAft>
                <a:spcPts val="200"/>
              </a:spcAft>
              <a:defRPr sz="1100" b="1">
                <a:solidFill>
                  <a:srgbClr val="182B49"/>
                </a:solidFill>
              </a:defRPr>
            </a:pPr>
            <a:r>
              <a:t>Optimal Operating Point</a:t>
            </a:r>
          </a:p>
          <a:p>
            <a:pPr>
              <a:spcAft>
                <a:spcPts val="800"/>
              </a:spcAft>
              <a:defRPr sz="950">
                <a:solidFill>
                  <a:srgbClr val="2D3436"/>
                </a:solidFill>
              </a:defRPr>
            </a:pPr>
            <a:r>
              <a:t>4 to 8 workers represent the sweet spot for maximizing speedup without excessive parallel overhead.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82B49"/>
          </a:solidFill>
          <a:ln>
            <a:solidFill>
              <a:srgbClr val="182B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7C82"/>
                </a:solidFill>
              </a:defRPr>
            </a:pPr>
            <a:r>
              <a:t>PARALLEL COMPUTING MINI-PROJECT | TOPIC #9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7680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10. Program Execution &amp; Verification</a:t>
            </a:r>
          </a:p>
        </p:txBody>
      </p:sp>
      <p:pic>
        <p:nvPicPr>
          <p:cNvPr id="5" name="Picture 4" descr="03_execution_verifi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4572000" cy="34747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0" y="1188720"/>
            <a:ext cx="2926080" cy="3474720"/>
          </a:xfrm>
          <a:prstGeom prst="roundRect">
            <a:avLst/>
          </a:prstGeom>
          <a:solidFill>
            <a:srgbClr val="FFFFFF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23560" y="1325880"/>
            <a:ext cx="26517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182B49"/>
                </a:solidFill>
              </a:defRPr>
            </a:pPr>
            <a:r>
              <a:t>Identical Numerical Outputs</a:t>
            </a:r>
          </a:p>
          <a:p>
            <a:pPr>
              <a:spcAft>
                <a:spcPts val="800"/>
              </a:spcAft>
              <a:defRPr sz="950">
                <a:solidFill>
                  <a:srgbClr val="2D3436"/>
                </a:solidFill>
              </a:defRPr>
            </a:pPr>
            <a:r>
              <a:t>All three models (Sequential, OpenMP, MPI) produce bitwise identical Sum, Mean, Min, Max, and Count &gt; Mean.</a:t>
            </a:r>
          </a:p>
          <a:p>
            <a:pPr>
              <a:spcAft>
                <a:spcPts val="200"/>
              </a:spcAft>
              <a:defRPr sz="1100" b="1">
                <a:solidFill>
                  <a:srgbClr val="182B49"/>
                </a:solidFill>
              </a:defRPr>
            </a:pPr>
            <a:r>
              <a:t>Latency Reductions (10M)</a:t>
            </a:r>
          </a:p>
          <a:p>
            <a:pPr>
              <a:spcAft>
                <a:spcPts val="800"/>
              </a:spcAft>
              <a:defRPr sz="950">
                <a:solidFill>
                  <a:srgbClr val="2D3436"/>
                </a:solidFill>
              </a:defRPr>
            </a:pPr>
            <a:r>
              <a:t>Execution latency reduced from 15.69 ms (Sequential) to 6.77 ms (OpenMP 4T) and 6.98 ms (MPI 4P).</a:t>
            </a:r>
          </a:p>
          <a:p>
            <a:pPr>
              <a:spcAft>
                <a:spcPts val="200"/>
              </a:spcAft>
              <a:defRPr sz="1100" b="1">
                <a:solidFill>
                  <a:srgbClr val="182B49"/>
                </a:solidFill>
              </a:defRPr>
            </a:pPr>
            <a:r>
              <a:t>Student Identity Verification</a:t>
            </a:r>
          </a:p>
          <a:p>
            <a:pPr>
              <a:spcAft>
                <a:spcPts val="800"/>
              </a:spcAft>
              <a:defRPr sz="950">
                <a:solidFill>
                  <a:srgbClr val="2D3436"/>
                </a:solidFill>
              </a:defRPr>
            </a:pPr>
            <a:r>
              <a:t>Active terminal outputs demonstrate runs attributed to Vinay V Hiremath (USN: 01FE24BCI069).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82B49"/>
          </a:solidFill>
          <a:ln>
            <a:solidFill>
              <a:srgbClr val="182B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7C82"/>
                </a:solidFill>
              </a:defRPr>
            </a:pPr>
            <a:r>
              <a:t>PARALLEL COMPUTING MINI-PROJECT | TOPIC #9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7680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11. Comprehensive Comparison: OpenMP vs MPI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188720"/>
          <a:ext cx="768096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  <a:gridCol w="1920240"/>
                <a:gridCol w="1920240"/>
              </a:tblGrid>
              <a:tr h="347472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Feature / Metric</a:t>
                      </a:r>
                    </a:p>
                  </a:txBody>
                  <a:tcPr>
                    <a:solidFill>
                      <a:srgbClr val="182B4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OpenMP (Shared Memory)</a:t>
                      </a:r>
                    </a:p>
                  </a:txBody>
                  <a:tcPr>
                    <a:solidFill>
                      <a:srgbClr val="182B4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MPI (Distributed Memory)</a:t>
                      </a:r>
                    </a:p>
                  </a:txBody>
                  <a:tcPr>
                    <a:solidFill>
                      <a:srgbClr val="182B4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Sequential Baseline</a:t>
                      </a:r>
                    </a:p>
                  </a:txBody>
                  <a:tcPr>
                    <a:solidFill>
                      <a:srgbClr val="182B4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2D3436"/>
                          </a:solidFill>
                        </a:defRPr>
                      </a:pPr>
                      <a:r>
                        <a:t>Hardware 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D3436"/>
                          </a:solidFill>
                        </a:defRPr>
                      </a:pPr>
                      <a:r>
                        <a:t>Multi-core CPU (SMP / Shared RAM)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D3436"/>
                          </a:solidFill>
                        </a:defRPr>
                      </a:pPr>
                      <a:r>
                        <a:t>Cluster / Multi-node / Distributed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D3436"/>
                          </a:solidFill>
                        </a:defRPr>
                      </a:pPr>
                      <a:r>
                        <a:t>Single CPU 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2D3436"/>
                          </a:solidFill>
                        </a:defRPr>
                      </a:pPr>
                      <a:r>
                        <a:t>Memory Space</a:t>
                      </a:r>
                    </a:p>
                  </a:txBody>
                  <a:tcPr>
                    <a:solidFill>
                      <a:srgbClr val="F0F3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D3436"/>
                          </a:solidFill>
                        </a:defRPr>
                      </a:pPr>
                      <a:r>
                        <a:t>Single Shared Address Space</a:t>
                      </a:r>
                    </a:p>
                  </a:txBody>
                  <a:tcPr>
                    <a:solidFill>
                      <a:srgbClr val="F0F3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D3436"/>
                          </a:solidFill>
                        </a:defRPr>
                      </a:pPr>
                      <a:r>
                        <a:t>Isolated Local Memory per Rank</a:t>
                      </a:r>
                    </a:p>
                  </a:txBody>
                  <a:tcPr>
                    <a:solidFill>
                      <a:srgbClr val="F0F3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D3436"/>
                          </a:solidFill>
                        </a:defRPr>
                      </a:pPr>
                      <a:r>
                        <a:t>Single Local Process Space</a:t>
                      </a:r>
                    </a:p>
                  </a:txBody>
                  <a:tcPr>
                    <a:solidFill>
                      <a:srgbClr val="F0F3F6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2D3436"/>
                          </a:solidFill>
                        </a:defRPr>
                      </a:pPr>
                      <a:r>
                        <a:t>Communication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D3436"/>
                          </a:solidFill>
                        </a:defRPr>
                      </a:pPr>
                      <a:r>
                        <a:t>Implicit via Shared Memory Reads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D3436"/>
                          </a:solidFill>
                        </a:defRPr>
                      </a:pPr>
                      <a:r>
                        <a:t>Explicit via MPI_Reduce / MPI_Bcast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D3436"/>
                          </a:solidFill>
                        </a:defRPr>
                      </a:pPr>
                      <a:r>
                        <a:t>None (Direct Access)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2D3436"/>
                          </a:solidFill>
                        </a:defRPr>
                      </a:pPr>
                      <a:r>
                        <a:t>Implementation</a:t>
                      </a:r>
                    </a:p>
                  </a:txBody>
                  <a:tcPr>
                    <a:solidFill>
                      <a:srgbClr val="F0F3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D3436"/>
                          </a:solidFill>
                        </a:defRPr>
                      </a:pPr>
                      <a:r>
                        <a:t>Compiler Directives (#pragma omp)</a:t>
                      </a:r>
                    </a:p>
                  </a:txBody>
                  <a:tcPr>
                    <a:solidFill>
                      <a:srgbClr val="F0F3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D3436"/>
                          </a:solidFill>
                        </a:defRPr>
                      </a:pPr>
                      <a:r>
                        <a:t>Library API Calls (MPI_Init, etc.)</a:t>
                      </a:r>
                    </a:p>
                  </a:txBody>
                  <a:tcPr>
                    <a:solidFill>
                      <a:srgbClr val="F0F3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D3436"/>
                          </a:solidFill>
                        </a:defRPr>
                      </a:pPr>
                      <a:r>
                        <a:t>Standard C code</a:t>
                      </a:r>
                    </a:p>
                  </a:txBody>
                  <a:tcPr>
                    <a:solidFill>
                      <a:srgbClr val="F0F3F6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2D3436"/>
                          </a:solidFill>
                        </a:defRPr>
                      </a:pPr>
                      <a:r>
                        <a:t>50M Runtime (4 Workers)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D3436"/>
                          </a:solidFill>
                        </a:defRPr>
                      </a:pPr>
                      <a:r>
                        <a:t>31.45 ms (2.61x speedup)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D3436"/>
                          </a:solidFill>
                        </a:defRPr>
                      </a:pPr>
                      <a:r>
                        <a:t>27.12 ms (3.02x speedup)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D3436"/>
                          </a:solidFill>
                        </a:defRPr>
                      </a:pPr>
                      <a:r>
                        <a:t>81.97 ms 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2D3436"/>
                          </a:solidFill>
                        </a:defRPr>
                      </a:pPr>
                      <a:r>
                        <a:t>50M Peak Speedup</a:t>
                      </a:r>
                    </a:p>
                  </a:txBody>
                  <a:tcPr>
                    <a:solidFill>
                      <a:srgbClr val="F0F3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D3436"/>
                          </a:solidFill>
                        </a:defRPr>
                      </a:pPr>
                      <a:r>
                        <a:t>3.27x (8 Threads)</a:t>
                      </a:r>
                    </a:p>
                  </a:txBody>
                  <a:tcPr>
                    <a:solidFill>
                      <a:srgbClr val="F0F3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D3436"/>
                          </a:solidFill>
                        </a:defRPr>
                      </a:pPr>
                      <a:r>
                        <a:t>3.42x (12 Processes)</a:t>
                      </a:r>
                    </a:p>
                  </a:txBody>
                  <a:tcPr>
                    <a:solidFill>
                      <a:srgbClr val="F0F3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D3436"/>
                          </a:solidFill>
                        </a:defRPr>
                      </a:pPr>
                      <a:r>
                        <a:t>1.00x (Baseline)</a:t>
                      </a:r>
                    </a:p>
                  </a:txBody>
                  <a:tcPr>
                    <a:solidFill>
                      <a:srgbClr val="F0F3F6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2D3436"/>
                          </a:solidFill>
                        </a:defRPr>
                      </a:pPr>
                      <a:r>
                        <a:t>Max Throughput (50M)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D3436"/>
                          </a:solidFill>
                        </a:defRPr>
                      </a:pPr>
                      <a:r>
                        <a:t>1,992 Million items/sec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D3436"/>
                          </a:solidFill>
                        </a:defRPr>
                      </a:pPr>
                      <a:r>
                        <a:t>2,083 Million items/sec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D3436"/>
                          </a:solidFill>
                        </a:defRPr>
                      </a:pPr>
                      <a:r>
                        <a:t>610 Million items/sec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2D3436"/>
                          </a:solidFill>
                        </a:defRPr>
                      </a:pPr>
                      <a:r>
                        <a:t>Fault Tolerance</a:t>
                      </a:r>
                    </a:p>
                  </a:txBody>
                  <a:tcPr>
                    <a:solidFill>
                      <a:srgbClr val="F0F3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D3436"/>
                          </a:solidFill>
                        </a:defRPr>
                      </a:pPr>
                      <a:r>
                        <a:t>Thread failure crashes process</a:t>
                      </a:r>
                    </a:p>
                  </a:txBody>
                  <a:tcPr>
                    <a:solidFill>
                      <a:srgbClr val="F0F3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D3436"/>
                          </a:solidFill>
                        </a:defRPr>
                      </a:pPr>
                      <a:r>
                        <a:t>Process failure isolation possible</a:t>
                      </a:r>
                    </a:p>
                  </a:txBody>
                  <a:tcPr>
                    <a:solidFill>
                      <a:srgbClr val="F0F3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D3436"/>
                          </a:solidFill>
                        </a:defRPr>
                      </a:pPr>
                      <a:r>
                        <a:t>Process failure fatal</a:t>
                      </a:r>
                    </a:p>
                  </a:txBody>
                  <a:tcPr>
                    <a:solidFill>
                      <a:srgbClr val="F0F3F6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2D3436"/>
                          </a:solidFill>
                        </a:defRPr>
                      </a:pPr>
                      <a:r>
                        <a:t>Best Used For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D3436"/>
                          </a:solidFill>
                        </a:defRPr>
                      </a:pPr>
                      <a:r>
                        <a:t>Local compute-heavy loops &amp; SMP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D3436"/>
                          </a:solidFill>
                        </a:defRPr>
                      </a:pPr>
                      <a:r>
                        <a:t>Large clusters &amp; Big Data HPC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D3436"/>
                          </a:solidFill>
                        </a:defRPr>
                      </a:pPr>
                      <a:r>
                        <a:t>Small / single-threaded tasks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82B49"/>
          </a:solidFill>
          <a:ln>
            <a:solidFill>
              <a:srgbClr val="182B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7C82"/>
                </a:solidFill>
              </a:defRPr>
            </a:pPr>
            <a:r>
              <a:t>PARALLEL COMPUTING MINI-PROJECT | TOPIC #9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7680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12. Architectural Discussion &amp; Scalability Insights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7680960" cy="3566160"/>
          </a:xfrm>
          <a:prstGeom prst="roundRect">
            <a:avLst/>
          </a:prstGeom>
          <a:solidFill>
            <a:srgbClr val="FFFFFF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280160"/>
            <a:ext cx="73152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Shared vs. Distributed Memory Trade-offs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OpenMP excels on single-node SMP systems with zero message serialization overhead. MPI provides superior cache isolation through 1D domain decomposition.</a:t>
            </a:r>
          </a:p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Collective Communication Latency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MPI requires explicit synchronization (MPI_Bcast, MPI_Reduce) using binomial spanning trees with O(log P) complexity to distribute and reduce variables.</a:t>
            </a:r>
          </a:p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Memory Bus &amp; Roofline Limits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Speedup saturation beyond 8 cores is governed by memory bandwidth limits on the host memory controller when processing contiguous floating-point streams.</a:t>
            </a:r>
          </a:p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Heterogeneous Core Scaling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Intel hybrid architectures (P-cores vs E-cores) and hyperthreading (SMT) deliver diminishing efficiency returns compared to dedicated physical execution units.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82B49"/>
          </a:solidFill>
          <a:ln>
            <a:solidFill>
              <a:srgbClr val="182B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7C82"/>
                </a:solidFill>
              </a:defRPr>
            </a:pPr>
            <a:r>
              <a:t>PARALLEL COMPUTING MINI-PROJECT | TOPIC #9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7680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13. Conclusion &amp; Future Scope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7680960" cy="3566160"/>
          </a:xfrm>
          <a:prstGeom prst="roundRect">
            <a:avLst/>
          </a:prstGeom>
          <a:solidFill>
            <a:srgbClr val="FFFFFF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280160"/>
            <a:ext cx="73152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Key Conclusion 1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Both OpenMP and MPI successfully accelerated the data processing workload, achieving &gt;3.2x-3.4x speedup over the sequential baseline.</a:t>
            </a:r>
          </a:p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Key Conclusion 2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OpenMP provides simple syntax and excellent developer ergonomics for shared-memory workstations with zero message-passing overhead.</a:t>
            </a:r>
          </a:p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Key Conclusion 3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MPI provides superior memory scalability and cache locality via domain decomposition, making it indispensable for distributed big data clusters.</a:t>
            </a:r>
          </a:p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Future Scope: Hybrid OpenMP + MPI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Combine MPI across distributed nodes and OpenMP within multi-core nodes for state-of-the-art Petascale HPC data processing pipelines.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