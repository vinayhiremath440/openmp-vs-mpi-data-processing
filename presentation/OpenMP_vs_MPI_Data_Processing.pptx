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2926080"/>
          </a:xfrm>
          <a:prstGeom prst="rect">
            <a:avLst/>
          </a:prstGeom>
          <a:solidFill>
            <a:srgbClr val="107C82"/>
          </a:solidFill>
          <a:ln>
            <a:solidFill>
              <a:srgbClr val="107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73152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07C82"/>
                </a:solidFill>
              </a:defRPr>
            </a:pPr>
            <a:r>
              <a:t>PARALLEL COMPUTING LAB EVALUATION</a:t>
            </a:r>
          </a:p>
          <a:p>
            <a:pPr>
              <a:spcAft>
                <a:spcPts val="1000"/>
              </a:spcAft>
              <a:defRPr sz="2800" b="1">
                <a:solidFill>
                  <a:srgbClr val="FFFFFF"/>
                </a:solidFill>
              </a:defRPr>
            </a:pPr>
            <a:r>
              <a:t>OpenMP vs MPI for Data Processing</a:t>
            </a:r>
          </a:p>
          <a:p>
            <a:pPr>
              <a:spcAft>
                <a:spcPts val="2500"/>
              </a:spcAft>
              <a:defRPr sz="1500">
                <a:solidFill>
                  <a:srgbClr val="C8D6E5"/>
                </a:solidFill>
              </a:defRPr>
            </a:pPr>
            <a:r>
              <a:t>A Comparative Performance, Speedup, and Efficiency Study</a:t>
            </a:r>
          </a:p>
          <a:p>
            <a:pPr>
              <a:defRPr sz="1100">
                <a:solidFill>
                  <a:srgbClr val="A4B0BE"/>
                </a:solidFill>
              </a:defRPr>
            </a:pPr>
            <a:r>
              <a:t>Theme: OpenMP vs MPI Data Processing  |  Model: OpenMP + MPI</a:t>
            </a:r>
            <a:br/>
            <a:r>
              <a:t>Checkpoint 1 - 5 Implementation  |  Academic Year 2026-2027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1. Project Objectives &amp; Evaluation Checkpoints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Core Task (Topic 9)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Perform identical numerical dataset operation using OpenMP and MPI, benchmarking runtime, speedup, and scalability.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Checkpoint 1: Problem Definition &amp; Sequential Algorithm (2 Marks)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Formal mathematical modeling of dataset operations (Reductions + Conditional Filtering) and sequential baseline.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Checkpoint 2: Working Parallel Implementation (2 Marks)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Implementation using OpenMP multithreading (shared memory) and MS-MPI message passing (distributed memory).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Checkpoint 3: Empirical Benchmarking Across Scales (2 Marks)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Systematic testing across dataset sizes (5M to 50M) and worker counts (1 to 12 threads/processes) with 3 repetitions.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Checkpoint 4: Visualization &amp; Performance Analysis (2 Marks)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Speedup curves, Amdahl's Law validation, and parallel efficiency profiling with high-resolution plots.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Checkpoint 5: Technical Viva &amp; Verification (2 Marks)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Complete conceptual and architectural readiness for guide questions and live demonstration.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2. Problem Definition &amp; Mathematical Operation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Input Dataset Characteristics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Array of N double-precision floating-point numbers (N in {5M, 10M, 25M, 50M}), simulating big-data telemetry/sensor records.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Phase 1: Aggregate Reductions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Compute global Sum, Mean (mu = Sum/N), Variance (sigma^2 = (Sum_sq/N) - mu^2), Std Deviation, Minimum, and Maximum values.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Phase 2: Dependent Conditional Filtering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Filter and count elements exceeding the dataset mean (val &gt; mu). Highlights multi-pass synchronization overhead.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Algorithmic Complexity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Sequential complexity is O(N) work and O(N) space. Parallel span (critical path) is O(N/P + log P) where P is worker count.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Reproducibility Assurance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Deterministic pseudo-random linear congruential generator (LCG) ensures 100% bitwise identical results across Sequential, OpenMP, and MPI.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3. Sequential Baseline Implementation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Execution Paradigm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Single-threaded von Neumann execution compiled with GCC -O3 optimization level.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Pass 1 Accumulation Loop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Linear traversal accumulating sum, sum_sq, min_val, and max_val into CPU registers.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Statistical Derivation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Variance and standard deviation derived from first and second moments in O(1) time after Pass 1.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Pass 2 Filtering Loop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Branch evaluation (data[i] &gt; mean) counting elements exceeding average in linear time.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High-Precision Windows Timing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QueryPerformanceCounter (QPC) provides sub-microsecond resolution timing, free from OS tick quantization artifacts.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4. OpenMP Shared-Memory Parallel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Memory Model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Uniform shared-memory SMP model. All threads share the same virtual address space with zero data duplication.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Directive-Driven Reductions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#pragma omp parallel for reduction(+:sum, sum_sq) reduction(min:min_val) reduction(max:max_val) schedule(static).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Thread Synchronization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Implicit barrier at loop completion ensures all private accumulators are merged safely into master variables without race conditions.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Pass 2 Shared Mean Access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Calculated mean is immediately readable by all threads from shared RAM without any explicit inter-thread communication.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Parallel Filter Loop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#pragma omp parallel for reduction(+:count_above_mean) splits iteration space statically across available threads.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5. MPI Distributed-Memory Parallel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Memory Model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Shared-nothing distributed memory architecture. Each process has an isolated address space; explicit message passing is required.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1D Domain Decomposition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Dataset divided into contiguous chunks: local_count = N / P (+1 for rank &lt; N % P). Local memory allocation ensures zero global RAM bloat.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Pass 1 Collective Reductions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MPI_Reduce() performs tree-based aggregation (MPI_SUM, MPI_MIN, MPI_MAX) from all ranks into Rank 0 in O(log P) steps.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Global Mean Broadcast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Rank 0 computes global_mean = global_sum / N and broadcasts it to all ranks via MPI_Bcast() for Phase 2.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Pass 2 Distributed Filter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Each rank filters its local slice and executes MPI_Reduce() with MPI_LONG_LONG to compute global count above mean.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6. Experimental Hardware &amp; Benchmarking Setup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Processor (CPU)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13th Gen Intel Core i5-13420H (8 Physical Cores, 12 Logical Processors, Base 2.1 GHz, Turbo 4.6 GHz).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Memory &amp; Architecture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16 GB RAM, x86_64 architecture, Windows 11 64-bit OS.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Compilers &amp; Toolchain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MinGW-w64 GCC 8.1.0 with -O3 optimization level, Microsoft MPI (MS-MPI) v10.1.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Dataset Scale Grid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5,000,000 | 10,000,000 | 25,000,000 | 50,000,000 double-precision elements (40 MB to 400 MB).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Worker Counts Tested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P in {1, 2, 4, 8, 12} threads for OpenMP and {1, 2, 4, 8, 12} processes for MPI.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Measurement Rigor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3 repetitions per configuration, computing average runtime, standard deviation, speedup, efficiency, and throughput.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7. Execution Time Comparison vs Dataset Size</a:t>
            </a:r>
          </a:p>
        </p:txBody>
      </p:sp>
      <p:pic>
        <p:nvPicPr>
          <p:cNvPr id="5" name="Picture 4" descr="execution_time_vs_data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4572000" cy="34747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0" y="1188720"/>
            <a:ext cx="29260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23560" y="132588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Sub-Linear Runtime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Execution time scales proportionally with dataset size from 5M to 50M elements across all implementations.</a:t>
            </a:r>
          </a:p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Significant Latency Drop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At 50M elements: Sequential requires 81.97 ms, while OpenMP reduces to 31.45 ms and MPI to 27.12 ms at 4 cores.</a:t>
            </a:r>
          </a:p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Shared vs Distributed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MPI exhibits slightly higher initial startup overhead at small sizes, but matches and outperforms OpenMP at large scales due to cache isolation.</a:t>
            </a:r>
          </a:p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Zero Computational Drift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Outputs match exactly: Sum = 249,997,015,134.12, Mean = 4,999.94, Count = 25,000,772.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8. Speedup Analysis vs Ideal Linear Scaling</a:t>
            </a:r>
          </a:p>
        </p:txBody>
      </p:sp>
      <p:pic>
        <p:nvPicPr>
          <p:cNvPr id="5" name="Picture 4" descr="speedup_vs_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4572000" cy="34747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0" y="1188720"/>
            <a:ext cx="29260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23560" y="132588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Near-Linear Scaling (1-4 Cores)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Both OpenMP and MPI achieve sharp speedup improvements up to 4 cores (OpenMP ~2.6x-2.9x, MPI ~2.9x-3.0x).</a:t>
            </a:r>
          </a:p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Peak Speedup at 8-12 Cores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MPI reaches 3.42x speedup at 12 processes (24.00 ms). OpenMP achieves 3.27x peak speedup at 8 threads (25.10 ms).</a:t>
            </a:r>
          </a:p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Amdahl's Law Impact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Serial fractions (variance computation, barrier synchronization, broadcast latency) set an upper theoretical limit on speedup.</a:t>
            </a:r>
          </a:p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Memory Bandwidth Saturation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Beyond 8 threads, multiple cores contend for shared L3 cache and memory bus bandwidth on CPU architecture.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9. Parallel Efficiency &amp; Throughput Profiling</a:t>
            </a:r>
          </a:p>
        </p:txBody>
      </p:sp>
      <p:pic>
        <p:nvPicPr>
          <p:cNvPr id="5" name="Picture 4" descr="efficiency_vs_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4572000" cy="34747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0" y="1188720"/>
            <a:ext cx="29260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23560" y="132588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High Low-Core Efficiency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At 2 cores, MPI achieves 89.4% efficiency and OpenMP achieves 86.8% efficiency.</a:t>
            </a:r>
          </a:p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Diminishing Returns on SMT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Beyond 8 physical cores, logical hyperthreads (threads 9-12) share execution pipelines, reducing per-worker efficiency.</a:t>
            </a:r>
          </a:p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Massive Throughput Gains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Throughput scales from 610 Million elements/sec (Sequential) to over 2,083 Million elements/sec (MPI 12 Procs).</a:t>
            </a:r>
          </a:p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Optimal Operating Point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4 to 8 workers represent the sweet spot for maximizing speedup without excessive parallel overhead.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10. Comprehensive Comparison: OpenMP vs MPI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188720"/>
          <a:ext cx="768096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Feature / Metric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OpenMP (Shared Memory)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MPI (Distributed Memory)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Sequential Baseline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Hardware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Multi-core CPU (SMP / Shared RAM)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Cluster / Multi-node / Distributed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Single CPU 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Memory Space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Single Shared Address Space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Isolated Local Memory per Rank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Single Local Process Space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Communication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Implicit via Shared Memory Reads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Explicit via MPI_Reduce / MPI_Bcast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None (Direct Access)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Implementation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Compiler Directives (#pragma omp)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Library API Calls (MPI_Init, etc.)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Standard C code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50M Runtime (4 Workers)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31.45 ms (2.61x speedup)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27.12 ms (3.02x speedup)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81.97 ms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50M Peak Speedup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3.27x (8 Threads)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3.42x (12 Processes)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1.00x (Baseline)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Max Throughput (50M)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1,992 Million items/sec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2,083 Million items/sec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610 Million items/sec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Fault Tolerance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Thread failure crashes process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Process failure isolation possible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Process failure fatal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Best Used For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Local compute-heavy loops &amp; SMP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Large clusters &amp; Big Data HPC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Small / single-threaded tasks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11. Technical Viva Questions &amp; Detailed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Q1: Why did Pass 2 require MPI_Bcast in MPI but nothing in OpenMP?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In OpenMP, global mean is stored in shared RAM, so all threads read it directly. In MPI, each process has an isolated memory space; rank 0 must explicitly broadcast the mean to other ranks.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Q2: Why does speedup saturate beyond 8 cores on this machine?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The Intel i5-13420H has 8 physical cores and 4 efficiency/SMT hyperthreads. Additionally, data processing is memory-bandwidth bound; RAM bus saturation limits further scaling.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Q3: How does OpenMP handle race conditions during reduction?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The reduction clause generates private accumulator variables for each thread. At the end of the parallel region, OpenMP combines private values into the shared variable using atomic hardware operations.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Q4: What is the communication complexity of MPI_Reduce and MPI_Bcast?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Both use binomial or butterfly tree algorithms with O(log P) communication steps, avoiding an O(P) bottleneck at rank 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12. Conclusion &amp; Future Scope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Key Conclusion 1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Both OpenMP and MPI successfully accelerated the data processing workload, achieving &gt;3.2x-3.4x speedup over the sequential baseline.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Key Conclusion 2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OpenMP provides simple syntax and excellent developer ergonomics for shared-memory workstations with zero message-passing overhead.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Key Conclusion 3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MPI provides superior memory scalability and cache locality via domain decomposition, making it indispensable for distributed big data clusters.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Future Scope: Hybrid OpenMP + MPI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Combine MPI across distributed nodes and OpenMP within multi-core nodes for state-of-the-art Petascale HPC data processing pipelines.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